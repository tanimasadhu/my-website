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14"/>
  </p:notesMasterIdLst>
  <p:sldIdLst>
    <p:sldId id="274" r:id="rId2"/>
    <p:sldId id="257" r:id="rId3"/>
    <p:sldId id="258" r:id="rId4"/>
    <p:sldId id="259" r:id="rId5"/>
    <p:sldId id="261" r:id="rId6"/>
    <p:sldId id="262" r:id="rId7"/>
    <p:sldId id="264" r:id="rId8"/>
    <p:sldId id="263" r:id="rId9"/>
    <p:sldId id="266" r:id="rId10"/>
    <p:sldId id="270" r:id="rId11"/>
    <p:sldId id="272"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70" d="100"/>
          <a:sy n="70" d="100"/>
        </p:scale>
        <p:origin x="65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3C9E21-7A6E-49E1-A5AB-DC5E5A900268}" type="datetimeFigureOut">
              <a:rPr lang="en-IN" smtClean="0"/>
              <a:t>10-12-2024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98C0F0-A8A5-4D01-8D5B-0A1C76D47990}" type="slidenum">
              <a:rPr lang="en-IN" smtClean="0"/>
              <a:t>‹#›</a:t>
            </a:fld>
            <a:endParaRPr lang="en-IN"/>
          </a:p>
        </p:txBody>
      </p:sp>
    </p:spTree>
    <p:extLst>
      <p:ext uri="{BB962C8B-B14F-4D97-AF65-F5344CB8AC3E}">
        <p14:creationId xmlns:p14="http://schemas.microsoft.com/office/powerpoint/2010/main" val="3606686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094E2171-CEA3-4E11-8263-0DA7A63735A9}"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4065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spTree>
    <p:extLst>
      <p:ext uri="{BB962C8B-B14F-4D97-AF65-F5344CB8AC3E}">
        <p14:creationId xmlns:p14="http://schemas.microsoft.com/office/powerpoint/2010/main" val="573925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738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9C83ED-372A-4988-A94C-2B08DEE0186F}"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4E2171-CEA3-4E11-8263-0DA7A63735A9}" type="slidenum">
              <a:rPr lang="en-IN" smtClean="0"/>
              <a:t>‹#›</a:t>
            </a:fld>
            <a:endParaRPr lang="en-IN"/>
          </a:p>
        </p:txBody>
      </p:sp>
    </p:spTree>
    <p:extLst>
      <p:ext uri="{BB962C8B-B14F-4D97-AF65-F5344CB8AC3E}">
        <p14:creationId xmlns:p14="http://schemas.microsoft.com/office/powerpoint/2010/main" val="767262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9C83ED-372A-4988-A94C-2B08DEE0186F}" type="datetimeFigureOut">
              <a:rPr lang="en-IN" smtClean="0"/>
              <a:t>10-12-2024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4E2171-CEA3-4E11-8263-0DA7A63735A9}"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126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9C83ED-372A-4988-A94C-2B08DEE0186F}" type="datetimeFigureOut">
              <a:rPr lang="en-IN" smtClean="0"/>
              <a:t>10-12-2024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4E2171-CEA3-4E11-8263-0DA7A63735A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902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9C83ED-372A-4988-A94C-2B08DEE0186F}" type="datetimeFigureOut">
              <a:rPr lang="en-IN" smtClean="0"/>
              <a:t>10-12-2024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4E2171-CEA3-4E11-8263-0DA7A63735A9}" type="slidenum">
              <a:rPr lang="en-IN" smtClean="0"/>
              <a:t>‹#›</a:t>
            </a:fld>
            <a:endParaRPr lang="en-IN"/>
          </a:p>
        </p:txBody>
      </p:sp>
    </p:spTree>
    <p:extLst>
      <p:ext uri="{BB962C8B-B14F-4D97-AF65-F5344CB8AC3E}">
        <p14:creationId xmlns:p14="http://schemas.microsoft.com/office/powerpoint/2010/main" val="730060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9C83ED-372A-4988-A94C-2B08DEE0186F}"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4E2171-CEA3-4E11-8263-0DA7A63735A9}"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0899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9C83ED-372A-4988-A94C-2B08DEE0186F}"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4E2171-CEA3-4E11-8263-0DA7A63735A9}" type="slidenum">
              <a:rPr lang="en-IN" smtClean="0"/>
              <a:t>‹#›</a:t>
            </a:fld>
            <a:endParaRPr lang="en-IN"/>
          </a:p>
        </p:txBody>
      </p:sp>
    </p:spTree>
    <p:extLst>
      <p:ext uri="{BB962C8B-B14F-4D97-AF65-F5344CB8AC3E}">
        <p14:creationId xmlns:p14="http://schemas.microsoft.com/office/powerpoint/2010/main" val="4243925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9C83ED-372A-4988-A94C-2B08DEE0186F}" type="datetimeFigureOut">
              <a:rPr lang="en-IN" smtClean="0"/>
              <a:t>10-12-2024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4E2171-CEA3-4E11-8263-0DA7A63735A9}" type="slidenum">
              <a:rPr lang="en-IN" smtClean="0"/>
              <a:t>‹#›</a:t>
            </a:fld>
            <a:endParaRPr lang="en-IN"/>
          </a:p>
        </p:txBody>
      </p:sp>
    </p:spTree>
    <p:extLst>
      <p:ext uri="{BB962C8B-B14F-4D97-AF65-F5344CB8AC3E}">
        <p14:creationId xmlns:p14="http://schemas.microsoft.com/office/powerpoint/2010/main" val="232477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6942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4483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spTree>
    <p:extLst>
      <p:ext uri="{BB962C8B-B14F-4D97-AF65-F5344CB8AC3E}">
        <p14:creationId xmlns:p14="http://schemas.microsoft.com/office/powerpoint/2010/main" val="1774906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4663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620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00914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9C83ED-372A-4988-A94C-2B08DEE0186F}" type="datetimeFigureOut">
              <a:rPr lang="en-IN" smtClean="0"/>
              <a:t>10-12-2024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4E2171-CEA3-4E11-8263-0DA7A63735A9}"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9470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9C83ED-372A-4988-A94C-2B08DEE0186F}" type="datetimeFigureOut">
              <a:rPr lang="en-IN" smtClean="0"/>
              <a:t>10-12-2024</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94E2171-CEA3-4E11-8263-0DA7A63735A9}" type="slidenum">
              <a:rPr lang="en-IN" smtClean="0"/>
              <a:t>‹#›</a:t>
            </a:fld>
            <a:endParaRPr lang="en-IN"/>
          </a:p>
        </p:txBody>
      </p:sp>
    </p:spTree>
    <p:extLst>
      <p:ext uri="{BB962C8B-B14F-4D97-AF65-F5344CB8AC3E}">
        <p14:creationId xmlns:p14="http://schemas.microsoft.com/office/powerpoint/2010/main" val="2251628069"/>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3F06-85AB-541D-E927-129CB2C4E493}"/>
              </a:ext>
            </a:extLst>
          </p:cNvPr>
          <p:cNvSpPr>
            <a:spLocks noGrp="1"/>
          </p:cNvSpPr>
          <p:nvPr>
            <p:ph type="ctrTitle"/>
          </p:nvPr>
        </p:nvSpPr>
        <p:spPr/>
        <p:txBody>
          <a:bodyPr/>
          <a:lstStyle/>
          <a:p>
            <a:r>
              <a:rPr lang="en-IN" sz="6000" b="1" dirty="0"/>
              <a:t>GENDER</a:t>
            </a:r>
            <a:r>
              <a:rPr lang="en-IN" dirty="0"/>
              <a:t> </a:t>
            </a:r>
          </a:p>
        </p:txBody>
      </p:sp>
      <p:sp>
        <p:nvSpPr>
          <p:cNvPr id="3" name="Subtitle 2">
            <a:extLst>
              <a:ext uri="{FF2B5EF4-FFF2-40B4-BE49-F238E27FC236}">
                <a16:creationId xmlns:a16="http://schemas.microsoft.com/office/drawing/2014/main" id="{0C703BC8-C7CB-7814-4C0C-4A54A03AF218}"/>
              </a:ext>
            </a:extLst>
          </p:cNvPr>
          <p:cNvSpPr>
            <a:spLocks noGrp="1"/>
          </p:cNvSpPr>
          <p:nvPr>
            <p:ph type="subTitle" idx="1"/>
          </p:nvPr>
        </p:nvSpPr>
        <p:spPr/>
        <p:txBody>
          <a:bodyPr>
            <a:normAutofit/>
          </a:bodyPr>
          <a:lstStyle/>
          <a:p>
            <a:r>
              <a:rPr lang="en-IN" sz="6000" b="1" dirty="0"/>
              <a:t>NEUTRALITY</a:t>
            </a:r>
          </a:p>
        </p:txBody>
      </p:sp>
    </p:spTree>
    <p:extLst>
      <p:ext uri="{BB962C8B-B14F-4D97-AF65-F5344CB8AC3E}">
        <p14:creationId xmlns:p14="http://schemas.microsoft.com/office/powerpoint/2010/main" val="1686344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6C6C94-E410-E7BD-1251-45B53394E49E}"/>
              </a:ext>
            </a:extLst>
          </p:cNvPr>
          <p:cNvSpPr txBox="1"/>
          <p:nvPr/>
        </p:nvSpPr>
        <p:spPr>
          <a:xfrm>
            <a:off x="3008376" y="1664208"/>
            <a:ext cx="7735824" cy="2772747"/>
          </a:xfrm>
          <a:prstGeom prst="rect">
            <a:avLst/>
          </a:prstGeom>
          <a:noFill/>
        </p:spPr>
        <p:txBody>
          <a:bodyPr wrap="square" rtlCol="0">
            <a:spAutoFit/>
          </a:bodyPr>
          <a:lstStyle/>
          <a:p>
            <a:pPr>
              <a:lnSpc>
                <a:spcPct val="150000"/>
              </a:lnSpc>
            </a:pPr>
            <a:r>
              <a:rPr lang="en-IN" sz="2800" dirty="0"/>
              <a:t>         </a:t>
            </a:r>
            <a:r>
              <a:rPr lang="en-IN" sz="2800" b="1" dirty="0"/>
              <a:t>GENDER NEUTRALITY</a:t>
            </a:r>
          </a:p>
          <a:p>
            <a:pPr>
              <a:lnSpc>
                <a:spcPct val="150000"/>
              </a:lnSpc>
            </a:pPr>
            <a:r>
              <a:rPr lang="en-IN" sz="2800" dirty="0"/>
              <a:t>                     </a:t>
            </a:r>
            <a:r>
              <a:rPr lang="en-IN" dirty="0"/>
              <a:t>PRESENTED TO </a:t>
            </a:r>
          </a:p>
          <a:p>
            <a:pPr>
              <a:lnSpc>
                <a:spcPct val="150000"/>
              </a:lnSpc>
            </a:pPr>
            <a:r>
              <a:rPr lang="en-IN" dirty="0"/>
              <a:t>                            </a:t>
            </a:r>
            <a:r>
              <a:rPr lang="en-IN" sz="2400" b="1" dirty="0"/>
              <a:t>AINDRILA SAHA </a:t>
            </a:r>
          </a:p>
          <a:p>
            <a:pPr>
              <a:lnSpc>
                <a:spcPct val="150000"/>
              </a:lnSpc>
            </a:pPr>
            <a:r>
              <a:rPr lang="en-IN" dirty="0"/>
              <a:t>                ASSISTANT PROFESSOR OF ENGLISH</a:t>
            </a:r>
          </a:p>
          <a:p>
            <a:pPr>
              <a:lnSpc>
                <a:spcPct val="150000"/>
              </a:lnSpc>
            </a:pPr>
            <a:r>
              <a:rPr lang="en-IN" dirty="0"/>
              <a:t>    </a:t>
            </a:r>
            <a:r>
              <a:rPr lang="en-IN" sz="2000" b="1" dirty="0"/>
              <a:t>GURU NANAK INSTITUTE OF TECHNOLOGY</a:t>
            </a:r>
          </a:p>
        </p:txBody>
      </p:sp>
    </p:spTree>
    <p:extLst>
      <p:ext uri="{BB962C8B-B14F-4D97-AF65-F5344CB8AC3E}">
        <p14:creationId xmlns:p14="http://schemas.microsoft.com/office/powerpoint/2010/main" val="2554843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4D059-14F1-737B-877D-0B8518C1C4D9}"/>
              </a:ext>
            </a:extLst>
          </p:cNvPr>
          <p:cNvSpPr txBox="1"/>
          <p:nvPr/>
        </p:nvSpPr>
        <p:spPr>
          <a:xfrm>
            <a:off x="1243584" y="932688"/>
            <a:ext cx="7946136" cy="3970318"/>
          </a:xfrm>
          <a:prstGeom prst="rect">
            <a:avLst/>
          </a:prstGeom>
          <a:noFill/>
        </p:spPr>
        <p:txBody>
          <a:bodyPr wrap="square" rtlCol="0">
            <a:spAutoFit/>
          </a:bodyPr>
          <a:lstStyle/>
          <a:p>
            <a:r>
              <a:rPr lang="en-IN" sz="3600" b="1" dirty="0"/>
              <a:t>TEAM PROFILES:-</a:t>
            </a:r>
          </a:p>
          <a:p>
            <a:endParaRPr lang="en-IN" sz="3600" dirty="0"/>
          </a:p>
          <a:p>
            <a:pPr marL="571500" indent="-571500">
              <a:buFont typeface="Arial" panose="020B0604020202020204" pitchFamily="34" charset="0"/>
              <a:buChar char="•"/>
            </a:pPr>
            <a:r>
              <a:rPr lang="en-IN" sz="3600" dirty="0"/>
              <a:t> Sumit Bharti- 94</a:t>
            </a:r>
          </a:p>
          <a:p>
            <a:pPr marL="571500" indent="-571500">
              <a:buFont typeface="Arial" panose="020B0604020202020204" pitchFamily="34" charset="0"/>
              <a:buChar char="•"/>
            </a:pPr>
            <a:r>
              <a:rPr lang="en-IN" sz="3600" dirty="0"/>
              <a:t> Tanima Sadhu- 99</a:t>
            </a:r>
          </a:p>
          <a:p>
            <a:pPr marL="571500" indent="-571500">
              <a:buFont typeface="Arial" panose="020B0604020202020204" pitchFamily="34" charset="0"/>
              <a:buChar char="•"/>
            </a:pPr>
            <a:r>
              <a:rPr lang="en-IN" sz="3600" dirty="0"/>
              <a:t> Urmi Mishra- 102</a:t>
            </a:r>
          </a:p>
          <a:p>
            <a:pPr marL="571500" indent="-571500">
              <a:buFont typeface="Arial" panose="020B0604020202020204" pitchFamily="34" charset="0"/>
              <a:buChar char="•"/>
            </a:pPr>
            <a:r>
              <a:rPr lang="en-IN" sz="3600" dirty="0"/>
              <a:t> Vineet Singh- 105</a:t>
            </a:r>
          </a:p>
          <a:p>
            <a:pPr marL="571500" indent="-571500">
              <a:buFont typeface="Arial" panose="020B0604020202020204" pitchFamily="34" charset="0"/>
              <a:buChar char="•"/>
            </a:pPr>
            <a:r>
              <a:rPr lang="en-IN" sz="3600" dirty="0"/>
              <a:t> </a:t>
            </a:r>
            <a:r>
              <a:rPr lang="en-IN" sz="3600" dirty="0" err="1"/>
              <a:t>Debadyuti</a:t>
            </a:r>
            <a:r>
              <a:rPr lang="en-IN" sz="3600" dirty="0"/>
              <a:t> Modak- 111</a:t>
            </a:r>
          </a:p>
        </p:txBody>
      </p:sp>
    </p:spTree>
    <p:extLst>
      <p:ext uri="{BB962C8B-B14F-4D97-AF65-F5344CB8AC3E}">
        <p14:creationId xmlns:p14="http://schemas.microsoft.com/office/powerpoint/2010/main" val="597313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028E89-6913-24DA-0994-49D660A2BBBF}"/>
              </a:ext>
            </a:extLst>
          </p:cNvPr>
          <p:cNvSpPr txBox="1"/>
          <p:nvPr/>
        </p:nvSpPr>
        <p:spPr>
          <a:xfrm>
            <a:off x="859536" y="987552"/>
            <a:ext cx="10472928" cy="4801314"/>
          </a:xfrm>
          <a:prstGeom prst="rect">
            <a:avLst/>
          </a:prstGeom>
          <a:noFill/>
        </p:spPr>
        <p:txBody>
          <a:bodyPr wrap="square" rtlCol="0">
            <a:spAutoFit/>
          </a:bodyPr>
          <a:lstStyle/>
          <a:p>
            <a:r>
              <a:rPr lang="en-IN" sz="3200" b="1" dirty="0"/>
              <a:t>TABLE OF CONTENTS</a:t>
            </a:r>
          </a:p>
          <a:p>
            <a:endParaRPr lang="en-IN" sz="3200" b="1" dirty="0"/>
          </a:p>
          <a:p>
            <a:pPr marL="457200" indent="-457200">
              <a:buFont typeface="Wingdings" panose="05000000000000000000" pitchFamily="2" charset="2"/>
              <a:buChar char="q"/>
            </a:pPr>
            <a:r>
              <a:rPr lang="en-IN" sz="3200" b="1" dirty="0"/>
              <a:t> Introduction</a:t>
            </a:r>
          </a:p>
          <a:p>
            <a:pPr marL="457200" indent="-457200">
              <a:buFont typeface="Wingdings" panose="05000000000000000000" pitchFamily="2" charset="2"/>
              <a:buChar char="q"/>
            </a:pPr>
            <a:r>
              <a:rPr lang="en-IN" sz="3200" b="1" dirty="0"/>
              <a:t> Examples of Gender Neutrality</a:t>
            </a:r>
          </a:p>
          <a:p>
            <a:pPr marL="457200" indent="-457200">
              <a:buFont typeface="Wingdings" panose="05000000000000000000" pitchFamily="2" charset="2"/>
              <a:buChar char="q"/>
            </a:pPr>
            <a:r>
              <a:rPr lang="en-IN" sz="3200" b="1" dirty="0"/>
              <a:t> Benefits of Gender Neutrality</a:t>
            </a:r>
          </a:p>
          <a:p>
            <a:pPr marL="457200" indent="-457200">
              <a:buFont typeface="Wingdings" panose="05000000000000000000" pitchFamily="2" charset="2"/>
              <a:buChar char="q"/>
            </a:pPr>
            <a:r>
              <a:rPr lang="en-IN" sz="3200" b="1" dirty="0"/>
              <a:t> Challenges to Gender Neutrality</a:t>
            </a:r>
          </a:p>
          <a:p>
            <a:pPr marL="457200" indent="-457200">
              <a:buFont typeface="Wingdings" panose="05000000000000000000" pitchFamily="2" charset="2"/>
              <a:buChar char="q"/>
            </a:pPr>
            <a:r>
              <a:rPr lang="en-IN" sz="3200" b="1" dirty="0"/>
              <a:t> Articles supporting Gender Neutrality</a:t>
            </a:r>
          </a:p>
          <a:p>
            <a:pPr marL="457200" indent="-457200">
              <a:buFont typeface="Wingdings" panose="05000000000000000000" pitchFamily="2" charset="2"/>
              <a:buChar char="q"/>
            </a:pPr>
            <a:r>
              <a:rPr lang="en-IN" sz="3200" b="1" dirty="0"/>
              <a:t> Impacts of Gender Neutrality</a:t>
            </a:r>
          </a:p>
          <a:p>
            <a:pPr marL="457200" indent="-457200">
              <a:buFont typeface="Wingdings" panose="05000000000000000000" pitchFamily="2" charset="2"/>
              <a:buChar char="q"/>
            </a:pPr>
            <a:r>
              <a:rPr lang="en-IN" sz="3200" b="1" dirty="0"/>
              <a:t>Conclusion </a:t>
            </a:r>
          </a:p>
          <a:p>
            <a:endParaRPr lang="en-IN" dirty="0"/>
          </a:p>
        </p:txBody>
      </p:sp>
    </p:spTree>
    <p:extLst>
      <p:ext uri="{BB962C8B-B14F-4D97-AF65-F5344CB8AC3E}">
        <p14:creationId xmlns:p14="http://schemas.microsoft.com/office/powerpoint/2010/main" val="855996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0BE8D-458F-EF6E-4318-F3415CB07453}"/>
              </a:ext>
            </a:extLst>
          </p:cNvPr>
          <p:cNvSpPr>
            <a:spLocks noGrp="1"/>
          </p:cNvSpPr>
          <p:nvPr>
            <p:ph type="title"/>
          </p:nvPr>
        </p:nvSpPr>
        <p:spPr>
          <a:xfrm>
            <a:off x="1293811" y="1388534"/>
            <a:ext cx="3718455" cy="1427818"/>
          </a:xfrm>
        </p:spPr>
        <p:txBody>
          <a:bodyPr>
            <a:normAutofit/>
          </a:bodyPr>
          <a:lstStyle/>
          <a:p>
            <a:r>
              <a:rPr lang="en-US" b="1" u="sng" dirty="0">
                <a:effectLst/>
                <a:latin typeface="Algerian" panose="04020705040A02060702" pitchFamily="82" charset="0"/>
              </a:rPr>
              <a:t>Introduction to Gender Neutrality</a:t>
            </a:r>
            <a:br>
              <a:rPr lang="en-US" b="1" dirty="0">
                <a:effectLst/>
                <a:latin typeface="var(--font-family-segoe)"/>
              </a:rPr>
            </a:br>
            <a:endParaRPr lang="en-IN" dirty="0"/>
          </a:p>
        </p:txBody>
      </p:sp>
      <p:pic>
        <p:nvPicPr>
          <p:cNvPr id="6" name="Content Placeholder 5">
            <a:extLst>
              <a:ext uri="{FF2B5EF4-FFF2-40B4-BE49-F238E27FC236}">
                <a16:creationId xmlns:a16="http://schemas.microsoft.com/office/drawing/2014/main" id="{F9D2CDB4-1722-BBB8-E34B-45F5F90607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27866" y="1715882"/>
            <a:ext cx="5470525" cy="4102893"/>
          </a:xfrm>
        </p:spPr>
      </p:pic>
      <p:sp>
        <p:nvSpPr>
          <p:cNvPr id="4" name="Text Placeholder 3">
            <a:extLst>
              <a:ext uri="{FF2B5EF4-FFF2-40B4-BE49-F238E27FC236}">
                <a16:creationId xmlns:a16="http://schemas.microsoft.com/office/drawing/2014/main" id="{9AD76618-B9E6-0903-66F8-E454CA3E66BE}"/>
              </a:ext>
            </a:extLst>
          </p:cNvPr>
          <p:cNvSpPr>
            <a:spLocks noGrp="1"/>
          </p:cNvSpPr>
          <p:nvPr>
            <p:ph type="body" sz="half" idx="2"/>
          </p:nvPr>
        </p:nvSpPr>
        <p:spPr>
          <a:xfrm>
            <a:off x="1293811" y="3031064"/>
            <a:ext cx="3718455" cy="3186856"/>
          </a:xfrm>
        </p:spPr>
        <p:txBody>
          <a:bodyPr>
            <a:normAutofit fontScale="92500"/>
          </a:bodyPr>
          <a:lstStyle/>
          <a:p>
            <a:pPr algn="just"/>
            <a:r>
              <a:rPr lang="en-US" sz="1700" b="0" dirty="0">
                <a:effectLst/>
                <a:latin typeface="Cambria" panose="02040503050406030204" pitchFamily="18" charset="0"/>
                <a:ea typeface="Cambria" panose="02040503050406030204" pitchFamily="18" charset="0"/>
              </a:rPr>
              <a:t>Gender neutrality refers to the practice of recognizing and accommodating all genders equally without favoring or prioritizing one over others. It aims to create an inclusive environment where individuals are not confined or discriminated against based on their gender identity or expression. This concept is particularly relevant in contexts such as language, policies, education, workplaces, and public spaces.</a:t>
            </a:r>
          </a:p>
          <a:p>
            <a:endParaRPr lang="en-IN" dirty="0"/>
          </a:p>
        </p:txBody>
      </p:sp>
    </p:spTree>
    <p:extLst>
      <p:ext uri="{BB962C8B-B14F-4D97-AF65-F5344CB8AC3E}">
        <p14:creationId xmlns:p14="http://schemas.microsoft.com/office/powerpoint/2010/main" val="281322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DEE05E1-7DBD-88DD-C712-3EFDB944E8B5}"/>
              </a:ext>
            </a:extLst>
          </p:cNvPr>
          <p:cNvSpPr txBox="1"/>
          <p:nvPr/>
        </p:nvSpPr>
        <p:spPr>
          <a:xfrm>
            <a:off x="835152" y="1024128"/>
            <a:ext cx="10497312" cy="4708981"/>
          </a:xfrm>
          <a:prstGeom prst="rect">
            <a:avLst/>
          </a:prstGeom>
          <a:noFill/>
        </p:spPr>
        <p:txBody>
          <a:bodyPr wrap="square" rtlCol="0">
            <a:spAutoFit/>
          </a:bodyPr>
          <a:lstStyle/>
          <a:p>
            <a:pPr algn="ctr"/>
            <a:r>
              <a:rPr lang="en-US" sz="3200" b="1" i="0" u="sng" dirty="0">
                <a:solidFill>
                  <a:srgbClr val="000000"/>
                </a:solidFill>
                <a:effectLst/>
                <a:latin typeface="Algerian" panose="04020705040A02060702" pitchFamily="82" charset="0"/>
              </a:rPr>
              <a:t>Examples of Gender Neutrality </a:t>
            </a:r>
          </a:p>
          <a:p>
            <a:endParaRPr lang="en-US" sz="2800" b="1" i="0" u="sng" dirty="0">
              <a:solidFill>
                <a:srgbClr val="000000"/>
              </a:solidFill>
              <a:effectLst/>
              <a:latin typeface="Algerian" panose="04020705040A02060702" pitchFamily="82" charset="0"/>
            </a:endParaRPr>
          </a:p>
          <a:p>
            <a:pPr marL="285750" indent="-285750">
              <a:buFont typeface="Wingdings" panose="05000000000000000000" pitchFamily="2" charset="2"/>
              <a:buChar char="Ø"/>
            </a:pPr>
            <a:r>
              <a:rPr lang="en-US" sz="2000" b="1" i="0" u="sng" dirty="0">
                <a:solidFill>
                  <a:srgbClr val="000000"/>
                </a:solidFill>
                <a:effectLst/>
                <a:latin typeface="Cambria" panose="02040503050406030204" pitchFamily="18" charset="0"/>
                <a:ea typeface="Cambria" panose="02040503050406030204" pitchFamily="18" charset="0"/>
              </a:rPr>
              <a:t>Language:</a:t>
            </a:r>
            <a:r>
              <a:rPr lang="en-US" sz="2000" b="0" i="0" dirty="0">
                <a:solidFill>
                  <a:srgbClr val="000000"/>
                </a:solidFill>
                <a:effectLst/>
                <a:latin typeface="Cambria" panose="02040503050406030204" pitchFamily="18" charset="0"/>
                <a:ea typeface="Cambria" panose="02040503050406030204" pitchFamily="18" charset="0"/>
              </a:rPr>
              <a:t> Using gender-neutral pronouns like "they/them" instead of "he/him" or "she/her." Referring to professions neutrally, such as "firefighter" instead of "fireman" or "chairperson" instead of "chairman.“</a:t>
            </a:r>
          </a:p>
          <a:p>
            <a:pPr marL="285750" indent="-285750">
              <a:buFont typeface="Wingdings" panose="05000000000000000000" pitchFamily="2" charset="2"/>
              <a:buChar char="Ø"/>
            </a:pPr>
            <a:r>
              <a:rPr lang="en-US" sz="2000" b="0" i="0" dirty="0">
                <a:solidFill>
                  <a:srgbClr val="000000"/>
                </a:solidFill>
                <a:effectLst/>
                <a:latin typeface="Cambria" panose="02040503050406030204" pitchFamily="18" charset="0"/>
                <a:ea typeface="Cambria" panose="02040503050406030204" pitchFamily="18" charset="0"/>
              </a:rPr>
              <a:t> </a:t>
            </a:r>
            <a:r>
              <a:rPr lang="en-US" sz="2000" b="1" i="0" u="sng" dirty="0">
                <a:solidFill>
                  <a:srgbClr val="000000"/>
                </a:solidFill>
                <a:effectLst/>
                <a:latin typeface="Cambria" panose="02040503050406030204" pitchFamily="18" charset="0"/>
                <a:ea typeface="Cambria" panose="02040503050406030204" pitchFamily="18" charset="0"/>
              </a:rPr>
              <a:t>Public Spaces: </a:t>
            </a:r>
            <a:r>
              <a:rPr lang="en-US" sz="2000" b="0" i="0" dirty="0">
                <a:solidFill>
                  <a:srgbClr val="000000"/>
                </a:solidFill>
                <a:effectLst/>
                <a:latin typeface="Cambria" panose="02040503050406030204" pitchFamily="18" charset="0"/>
                <a:ea typeface="Cambria" panose="02040503050406030204" pitchFamily="18" charset="0"/>
              </a:rPr>
              <a:t>Providing gender-neutral restrooms that can be used by anyone, regardless of their gender identity.</a:t>
            </a:r>
          </a:p>
          <a:p>
            <a:pPr marL="285750" indent="-285750">
              <a:buFont typeface="Wingdings" panose="05000000000000000000" pitchFamily="2" charset="2"/>
              <a:buChar char="Ø"/>
            </a:pPr>
            <a:r>
              <a:rPr lang="en-US" sz="2000" b="1" i="0" u="sng" dirty="0">
                <a:solidFill>
                  <a:srgbClr val="000000"/>
                </a:solidFill>
                <a:effectLst/>
                <a:latin typeface="Cambria" panose="02040503050406030204" pitchFamily="18" charset="0"/>
                <a:ea typeface="Cambria" panose="02040503050406030204" pitchFamily="18" charset="0"/>
              </a:rPr>
              <a:t> Workplace Policies: </a:t>
            </a:r>
            <a:r>
              <a:rPr lang="en-US" sz="2000" b="0" i="0" dirty="0">
                <a:solidFill>
                  <a:srgbClr val="000000"/>
                </a:solidFill>
                <a:effectLst/>
                <a:latin typeface="Cambria" panose="02040503050406030204" pitchFamily="18" charset="0"/>
                <a:ea typeface="Cambria" panose="02040503050406030204" pitchFamily="18" charset="0"/>
              </a:rPr>
              <a:t>Implementing parental leave for "primary caregivers" rather than specifying "maternity" or "paternity" leave. Avoiding gender-specific dress codes and allowing employees to wear clothing they are comfortable in. </a:t>
            </a:r>
          </a:p>
          <a:p>
            <a:pPr marL="285750" indent="-285750">
              <a:buFont typeface="Wingdings" panose="05000000000000000000" pitchFamily="2" charset="2"/>
              <a:buChar char="Ø"/>
            </a:pPr>
            <a:r>
              <a:rPr lang="en-US" sz="2000" b="1" i="0" u="sng" dirty="0">
                <a:solidFill>
                  <a:srgbClr val="000000"/>
                </a:solidFill>
                <a:effectLst/>
                <a:latin typeface="Cambria" panose="02040503050406030204" pitchFamily="18" charset="0"/>
                <a:ea typeface="Cambria" panose="02040503050406030204" pitchFamily="18" charset="0"/>
              </a:rPr>
              <a:t>Education:</a:t>
            </a:r>
            <a:r>
              <a:rPr lang="en-US" sz="2000" b="0" i="0" dirty="0">
                <a:solidFill>
                  <a:srgbClr val="000000"/>
                </a:solidFill>
                <a:effectLst/>
                <a:latin typeface="Cambria" panose="02040503050406030204" pitchFamily="18" charset="0"/>
                <a:ea typeface="Cambria" panose="02040503050406030204" pitchFamily="18" charset="0"/>
              </a:rPr>
              <a:t> Allowing students to choose uniforms or dress codes that align with their identity. Including gender-neutral terms and examples in curricula to foster inclusivity. 5. Technology: Many virtual assistants, such as AI voice systems, now use gender-neutral voices to avoid reinforcing stereotypes</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80250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A3513135-A730-C0F0-554F-6F953153A804}"/>
              </a:ext>
            </a:extLst>
          </p:cNvPr>
          <p:cNvSpPr txBox="1"/>
          <p:nvPr/>
        </p:nvSpPr>
        <p:spPr>
          <a:xfrm>
            <a:off x="886968" y="1627632"/>
            <a:ext cx="10506456" cy="369332"/>
          </a:xfrm>
          <a:prstGeom prst="rect">
            <a:avLst/>
          </a:prstGeom>
          <a:noFill/>
        </p:spPr>
        <p:txBody>
          <a:bodyPr wrap="square" rtlCol="0">
            <a:spAutoFit/>
          </a:bodyPr>
          <a:lstStyle/>
          <a:p>
            <a:r>
              <a:rPr lang="en-IN" dirty="0"/>
              <a:t>  </a:t>
            </a:r>
          </a:p>
        </p:txBody>
      </p:sp>
      <p:sp>
        <p:nvSpPr>
          <p:cNvPr id="20" name="TextBox 19">
            <a:extLst>
              <a:ext uri="{FF2B5EF4-FFF2-40B4-BE49-F238E27FC236}">
                <a16:creationId xmlns:a16="http://schemas.microsoft.com/office/drawing/2014/main" id="{1130F2EF-FBAE-B29E-52EA-DD02328F5C79}"/>
              </a:ext>
            </a:extLst>
          </p:cNvPr>
          <p:cNvSpPr txBox="1"/>
          <p:nvPr/>
        </p:nvSpPr>
        <p:spPr>
          <a:xfrm>
            <a:off x="867397" y="1812298"/>
            <a:ext cx="10594848" cy="3693319"/>
          </a:xfrm>
          <a:prstGeom prst="rect">
            <a:avLst/>
          </a:prstGeom>
          <a:noFill/>
        </p:spPr>
        <p:txBody>
          <a:bodyPr wrap="square">
            <a:spAutoFit/>
          </a:bodyPr>
          <a:lstStyle/>
          <a:p>
            <a:r>
              <a:rPr lang="en-US" sz="2000" b="1" i="0" u="sng" dirty="0">
                <a:solidFill>
                  <a:srgbClr val="000000"/>
                </a:solidFill>
                <a:effectLst>
                  <a:outerShdw blurRad="38100" dist="38100" dir="2700000" algn="tl">
                    <a:srgbClr val="000000">
                      <a:alpha val="43137"/>
                    </a:srgbClr>
                  </a:outerShdw>
                </a:effectLst>
                <a:latin typeface="Segoe UI Historic" panose="020B0502040204020203" pitchFamily="34" charset="0"/>
              </a:rPr>
              <a:t>Gender neutrality offers numerous benefits, including</a:t>
            </a:r>
            <a:r>
              <a:rPr lang="en-US" b="1" i="0" u="sng" dirty="0">
                <a:solidFill>
                  <a:srgbClr val="000000"/>
                </a:solidFill>
                <a:latin typeface="Segoe UI Historic" panose="020B0502040204020203" pitchFamily="34" charset="0"/>
              </a:rPr>
              <a:t>: </a:t>
            </a:r>
          </a:p>
          <a:p>
            <a:pPr marL="342900" indent="-342900">
              <a:buAutoNum type="arabicPeriod"/>
            </a:pPr>
            <a:r>
              <a:rPr lang="en-US" b="1" i="0" dirty="0">
                <a:solidFill>
                  <a:srgbClr val="000000"/>
                </a:solidFill>
                <a:effectLst/>
                <a:latin typeface="Segoe UI Historic" panose="020B0502040204020203" pitchFamily="34" charset="0"/>
              </a:rPr>
              <a:t>Promotes Equality</a:t>
            </a:r>
            <a:r>
              <a:rPr lang="en-US" b="0" i="0" dirty="0">
                <a:solidFill>
                  <a:srgbClr val="000000"/>
                </a:solidFill>
                <a:effectLst/>
                <a:latin typeface="Segoe UI Historic" panose="020B0502040204020203" pitchFamily="34" charset="0"/>
              </a:rPr>
              <a:t>: Gender neutrality fosters a culture of equality, where individuals are judged on their merits, not their gender. </a:t>
            </a:r>
          </a:p>
          <a:p>
            <a:pPr marL="342900" indent="-342900">
              <a:buAutoNum type="arabicPeriod"/>
            </a:pPr>
            <a:r>
              <a:rPr lang="en-US" b="1" i="0" dirty="0">
                <a:solidFill>
                  <a:srgbClr val="000000"/>
                </a:solidFill>
                <a:effectLst/>
                <a:latin typeface="Segoe UI Historic" panose="020B0502040204020203" pitchFamily="34" charset="0"/>
              </a:rPr>
              <a:t>Reduces Stereotyping</a:t>
            </a:r>
            <a:r>
              <a:rPr lang="en-US" b="0" i="0" dirty="0">
                <a:solidFill>
                  <a:srgbClr val="000000"/>
                </a:solidFill>
                <a:effectLst/>
                <a:latin typeface="Segoe UI Historic" panose="020B0502040204020203" pitchFamily="34" charset="0"/>
              </a:rPr>
              <a:t>: By avoiding gendered labels and expectations, individuals can express themselves freely, without conforming to societal norms.</a:t>
            </a:r>
          </a:p>
          <a:p>
            <a:pPr marL="342900" indent="-342900">
              <a:buAutoNum type="arabicPeriod"/>
            </a:pPr>
            <a:r>
              <a:rPr lang="en-US" b="1" i="0" dirty="0">
                <a:solidFill>
                  <a:srgbClr val="000000"/>
                </a:solidFill>
                <a:effectLst/>
                <a:latin typeface="Segoe UI Historic" panose="020B0502040204020203" pitchFamily="34" charset="0"/>
              </a:rPr>
              <a:t>Encourages Diversity and Inclusion</a:t>
            </a:r>
            <a:r>
              <a:rPr lang="en-US" b="0" i="0" dirty="0">
                <a:solidFill>
                  <a:srgbClr val="000000"/>
                </a:solidFill>
                <a:effectLst/>
                <a:latin typeface="Segoe UI Historic" panose="020B0502040204020203" pitchFamily="34" charset="0"/>
              </a:rPr>
              <a:t>: Gender-neutral environments welcome and value people of all gender identities, promoting diversity and inclusion.</a:t>
            </a:r>
          </a:p>
          <a:p>
            <a:pPr marL="342900" indent="-342900">
              <a:buAutoNum type="arabicPeriod"/>
            </a:pPr>
            <a:r>
              <a:rPr lang="en-US" b="1" i="0" dirty="0">
                <a:solidFill>
                  <a:srgbClr val="000000"/>
                </a:solidFill>
                <a:effectLst/>
                <a:latin typeface="Segoe UI Historic" panose="020B0502040204020203" pitchFamily="34" charset="0"/>
              </a:rPr>
              <a:t>Breaks Down Barriers</a:t>
            </a:r>
            <a:r>
              <a:rPr lang="en-US" b="0" i="0" dirty="0">
                <a:solidFill>
                  <a:srgbClr val="000000"/>
                </a:solidFill>
                <a:effectLst/>
                <a:latin typeface="Segoe UI Historic" panose="020B0502040204020203" pitchFamily="34" charset="0"/>
              </a:rPr>
              <a:t>: Gender neutrality helps dismantle barriers to education, employment, and healthcare, allowing individuals to pursue their goals without gender-based restrictions.</a:t>
            </a:r>
          </a:p>
          <a:p>
            <a:pPr marL="342900" indent="-342900">
              <a:buAutoNum type="arabicPeriod"/>
            </a:pPr>
            <a:r>
              <a:rPr lang="en-US" b="1" i="0" dirty="0">
                <a:solidFill>
                  <a:srgbClr val="000000"/>
                </a:solidFill>
                <a:effectLst/>
                <a:latin typeface="Segoe UI Historic" panose="020B0502040204020203" pitchFamily="34" charset="0"/>
              </a:rPr>
              <a:t>Fosters Creativity and Self-Expression</a:t>
            </a:r>
            <a:r>
              <a:rPr lang="en-US" b="0" i="0" dirty="0">
                <a:solidFill>
                  <a:srgbClr val="000000"/>
                </a:solidFill>
                <a:effectLst/>
                <a:latin typeface="Segoe UI Historic" panose="020B0502040204020203" pitchFamily="34" charset="0"/>
              </a:rPr>
              <a:t>: By removing gendered expectations, individuals can explore their interests, talents, and identities without constraint.</a:t>
            </a:r>
          </a:p>
          <a:p>
            <a:pPr marL="342900" indent="-342900">
              <a:buAutoNum type="arabicPeriod"/>
            </a:pPr>
            <a:r>
              <a:rPr lang="en-US" b="1" i="0" dirty="0">
                <a:solidFill>
                  <a:srgbClr val="000000"/>
                </a:solidFill>
                <a:effectLst/>
                <a:latin typeface="Segoe UI Historic" panose="020B0502040204020203" pitchFamily="34" charset="0"/>
              </a:rPr>
              <a:t>Supports Mental Health</a:t>
            </a:r>
            <a:r>
              <a:rPr lang="en-US" b="0" i="0" dirty="0">
                <a:solidFill>
                  <a:srgbClr val="000000"/>
                </a:solidFill>
                <a:effectLst/>
                <a:latin typeface="Segoe UI Historic" panose="020B0502040204020203" pitchFamily="34" charset="0"/>
              </a:rPr>
              <a:t>: Gender neutrality can reduce the pressure to conform to traditional gender roles, promoting mental well-being</a:t>
            </a:r>
            <a:r>
              <a:rPr lang="en-IN" b="0" i="0" dirty="0">
                <a:solidFill>
                  <a:srgbClr val="000000"/>
                </a:solidFill>
                <a:effectLst/>
                <a:latin typeface="Segoe UI Historic" panose="020B0502040204020203" pitchFamily="34" charset="0"/>
              </a:rPr>
              <a:t> and self acceptance</a:t>
            </a:r>
            <a:endParaRPr lang="en-IN" dirty="0"/>
          </a:p>
        </p:txBody>
      </p:sp>
      <p:sp>
        <p:nvSpPr>
          <p:cNvPr id="23" name="TextBox 22">
            <a:extLst>
              <a:ext uri="{FF2B5EF4-FFF2-40B4-BE49-F238E27FC236}">
                <a16:creationId xmlns:a16="http://schemas.microsoft.com/office/drawing/2014/main" id="{25CCDE8C-FD9C-398F-2E42-71220B832505}"/>
              </a:ext>
            </a:extLst>
          </p:cNvPr>
          <p:cNvSpPr txBox="1"/>
          <p:nvPr/>
        </p:nvSpPr>
        <p:spPr>
          <a:xfrm>
            <a:off x="1671908" y="919746"/>
            <a:ext cx="10241280" cy="707886"/>
          </a:xfrm>
          <a:prstGeom prst="rect">
            <a:avLst/>
          </a:prstGeom>
          <a:noFill/>
        </p:spPr>
        <p:txBody>
          <a:bodyPr wrap="square" rtlCol="0">
            <a:spAutoFit/>
          </a:bodyPr>
          <a:lstStyle/>
          <a:p>
            <a:r>
              <a:rPr lang="en-IN" sz="4000" b="1" u="sng" dirty="0">
                <a:latin typeface="Algerian" panose="04020705040A02060702" pitchFamily="82" charset="0"/>
              </a:rPr>
              <a:t>Benefits of Gender Neutrality</a:t>
            </a:r>
            <a:endParaRPr lang="en-IN" sz="4000" u="sng" dirty="0">
              <a:latin typeface="Algerian" panose="04020705040A02060702" pitchFamily="82" charset="0"/>
            </a:endParaRPr>
          </a:p>
        </p:txBody>
      </p:sp>
    </p:spTree>
    <p:extLst>
      <p:ext uri="{BB962C8B-B14F-4D97-AF65-F5344CB8AC3E}">
        <p14:creationId xmlns:p14="http://schemas.microsoft.com/office/powerpoint/2010/main" val="2252007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4D200-0004-5E77-7824-F6BFC4A1A809}"/>
              </a:ext>
            </a:extLst>
          </p:cNvPr>
          <p:cNvSpPr>
            <a:spLocks noGrp="1"/>
          </p:cNvSpPr>
          <p:nvPr>
            <p:ph type="title"/>
          </p:nvPr>
        </p:nvSpPr>
        <p:spPr>
          <a:xfrm>
            <a:off x="1194815" y="849376"/>
            <a:ext cx="6241816" cy="641096"/>
          </a:xfrm>
        </p:spPr>
        <p:txBody>
          <a:bodyPr>
            <a:noAutofit/>
          </a:bodyPr>
          <a:lstStyle/>
          <a:p>
            <a:r>
              <a:rPr lang="en-IN" b="1" u="sng" dirty="0">
                <a:latin typeface="Algerian" panose="04020705040A02060702" pitchFamily="82" charset="0"/>
              </a:rPr>
              <a:t>Challenges to Gender</a:t>
            </a:r>
            <a:br>
              <a:rPr lang="en-IN" b="1" u="sng" dirty="0">
                <a:latin typeface="Algerian" panose="04020705040A02060702" pitchFamily="82" charset="0"/>
              </a:rPr>
            </a:br>
            <a:r>
              <a:rPr lang="en-IN" b="1" u="sng" dirty="0">
                <a:latin typeface="Algerian" panose="04020705040A02060702" pitchFamily="82" charset="0"/>
              </a:rPr>
              <a:t> Neutrality</a:t>
            </a:r>
          </a:p>
        </p:txBody>
      </p:sp>
      <p:pic>
        <p:nvPicPr>
          <p:cNvPr id="6" name="Picture Placeholder 5">
            <a:extLst>
              <a:ext uri="{FF2B5EF4-FFF2-40B4-BE49-F238E27FC236}">
                <a16:creationId xmlns:a16="http://schemas.microsoft.com/office/drawing/2014/main" id="{F59C2580-1FA4-9518-D74D-C914285CC001}"/>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a:stretch>
            <a:fillRect/>
          </a:stretch>
        </p:blipFill>
        <p:spPr>
          <a:xfrm>
            <a:off x="7554977" y="1591056"/>
            <a:ext cx="3737864" cy="4343400"/>
          </a:xfrm>
          <a:prstGeom prst="rect">
            <a:avLst/>
          </a:prstGeom>
          <a:ln>
            <a:noFill/>
          </a:ln>
          <a:effectLst>
            <a:outerShdw blurRad="190500" algn="tl" rotWithShape="0">
              <a:srgbClr val="000000">
                <a:alpha val="70000"/>
              </a:srgbClr>
            </a:outerShdw>
          </a:effectLst>
        </p:spPr>
      </p:pic>
      <p:sp>
        <p:nvSpPr>
          <p:cNvPr id="4" name="Text Placeholder 3">
            <a:extLst>
              <a:ext uri="{FF2B5EF4-FFF2-40B4-BE49-F238E27FC236}">
                <a16:creationId xmlns:a16="http://schemas.microsoft.com/office/drawing/2014/main" id="{622CDBD2-64FC-38AC-7149-63A0A377667C}"/>
              </a:ext>
            </a:extLst>
          </p:cNvPr>
          <p:cNvSpPr>
            <a:spLocks noGrp="1"/>
          </p:cNvSpPr>
          <p:nvPr>
            <p:ph type="body" sz="half" idx="2"/>
          </p:nvPr>
        </p:nvSpPr>
        <p:spPr>
          <a:xfrm>
            <a:off x="1194815" y="1591056"/>
            <a:ext cx="6241816" cy="4626864"/>
          </a:xfrm>
        </p:spPr>
        <p:txBody>
          <a:bodyPr>
            <a:normAutofit fontScale="85000" lnSpcReduction="20000"/>
          </a:bodyPr>
          <a:lstStyle/>
          <a:p>
            <a:pPr marL="342900" indent="-342900" algn="just">
              <a:buAutoNum type="arabicPeriod"/>
            </a:pPr>
            <a:r>
              <a:rPr lang="en-US" sz="2100" b="1" i="0" u="sng" dirty="0">
                <a:solidFill>
                  <a:srgbClr val="000000"/>
                </a:solidFill>
                <a:effectLst/>
                <a:latin typeface="Cambria" panose="02040503050406030204" pitchFamily="18" charset="0"/>
                <a:ea typeface="Cambria" panose="02040503050406030204" pitchFamily="18" charset="0"/>
              </a:rPr>
              <a:t>Social and Cultural Resistance:- </a:t>
            </a:r>
            <a:r>
              <a:rPr lang="en-US" b="1" i="1" dirty="0">
                <a:solidFill>
                  <a:srgbClr val="000000"/>
                </a:solidFill>
                <a:effectLst/>
                <a:latin typeface="Cambria" panose="02040503050406030204" pitchFamily="18" charset="0"/>
                <a:ea typeface="Cambria" panose="02040503050406030204" pitchFamily="18" charset="0"/>
              </a:rPr>
              <a:t>Traditional Norms and Beliefs:</a:t>
            </a:r>
            <a:r>
              <a:rPr lang="en-US" b="0" i="1" dirty="0">
                <a:solidFill>
                  <a:srgbClr val="000000"/>
                </a:solidFill>
                <a:effectLst/>
                <a:latin typeface="Cambria" panose="02040503050406030204" pitchFamily="18" charset="0"/>
                <a:ea typeface="Cambria" panose="02040503050406030204" pitchFamily="18" charset="0"/>
              </a:rPr>
              <a:t> </a:t>
            </a:r>
            <a:r>
              <a:rPr lang="en-US" b="0" i="0" dirty="0">
                <a:solidFill>
                  <a:srgbClr val="000000"/>
                </a:solidFill>
                <a:effectLst/>
                <a:latin typeface="Cambria" panose="02040503050406030204" pitchFamily="18" charset="0"/>
                <a:ea typeface="Cambria" panose="02040503050406030204" pitchFamily="18" charset="0"/>
              </a:rPr>
              <a:t>Many societies adhere to strict binary gender roles, making it hard for individuals to accept and adapt to gender-neutral practices. </a:t>
            </a:r>
            <a:r>
              <a:rPr lang="en-US" b="1" i="1" dirty="0">
                <a:solidFill>
                  <a:srgbClr val="000000"/>
                </a:solidFill>
                <a:effectLst/>
                <a:latin typeface="Cambria" panose="02040503050406030204" pitchFamily="18" charset="0"/>
                <a:ea typeface="Cambria" panose="02040503050406030204" pitchFamily="18" charset="0"/>
              </a:rPr>
              <a:t>Public Misconceptions: </a:t>
            </a:r>
            <a:r>
              <a:rPr lang="en-US" b="0" i="0" dirty="0">
                <a:solidFill>
                  <a:srgbClr val="000000"/>
                </a:solidFill>
                <a:effectLst/>
                <a:latin typeface="Cambria" panose="02040503050406030204" pitchFamily="18" charset="0"/>
                <a:ea typeface="Cambria" panose="02040503050406030204" pitchFamily="18" charset="0"/>
              </a:rPr>
              <a:t>Some view gender-neutral policies as unnecessary or threatening to cultural and religious values.</a:t>
            </a:r>
          </a:p>
          <a:p>
            <a:pPr marL="342900" indent="-342900" algn="just">
              <a:buAutoNum type="arabicPeriod"/>
            </a:pPr>
            <a:r>
              <a:rPr lang="en-US" sz="2100" b="1" i="0" u="sng" dirty="0">
                <a:solidFill>
                  <a:srgbClr val="000000"/>
                </a:solidFill>
                <a:effectLst/>
                <a:latin typeface="Cambria" panose="02040503050406030204" pitchFamily="18" charset="0"/>
                <a:ea typeface="Cambria" panose="02040503050406030204" pitchFamily="18" charset="0"/>
              </a:rPr>
              <a:t>Safety and Privacy Concerns:- </a:t>
            </a:r>
            <a:r>
              <a:rPr lang="en-US" b="1" i="1" dirty="0">
                <a:solidFill>
                  <a:srgbClr val="000000"/>
                </a:solidFill>
                <a:effectLst/>
                <a:latin typeface="Cambria" panose="02040503050406030204" pitchFamily="18" charset="0"/>
                <a:ea typeface="Cambria" panose="02040503050406030204" pitchFamily="18" charset="0"/>
              </a:rPr>
              <a:t>Perceptions of Misuse: </a:t>
            </a:r>
            <a:r>
              <a:rPr lang="en-US" b="0" i="0" dirty="0">
                <a:solidFill>
                  <a:srgbClr val="000000"/>
                </a:solidFill>
                <a:effectLst/>
                <a:latin typeface="Cambria" panose="02040503050406030204" pitchFamily="18" charset="0"/>
                <a:ea typeface="Cambria" panose="02040503050406030204" pitchFamily="18" charset="0"/>
              </a:rPr>
              <a:t>Opponents of gender-neutral restrooms claim they might be exploited for inappropriate behavior, although studies show little evidence supporting this concern. </a:t>
            </a:r>
            <a:r>
              <a:rPr lang="en-US" b="1" i="1" dirty="0">
                <a:solidFill>
                  <a:srgbClr val="000000"/>
                </a:solidFill>
                <a:effectLst/>
                <a:latin typeface="Cambria" panose="02040503050406030204" pitchFamily="18" charset="0"/>
                <a:ea typeface="Cambria" panose="02040503050406030204" pitchFamily="18" charset="0"/>
              </a:rPr>
              <a:t>Balancing Privacy: </a:t>
            </a:r>
            <a:r>
              <a:rPr lang="en-US" b="0" i="0" dirty="0">
                <a:solidFill>
                  <a:srgbClr val="000000"/>
                </a:solidFill>
                <a:effectLst/>
                <a:latin typeface="Cambria" panose="02040503050406030204" pitchFamily="18" charset="0"/>
                <a:ea typeface="Cambria" panose="02040503050406030204" pitchFamily="18" charset="0"/>
              </a:rPr>
              <a:t>Ensuring gender-neutral spaces meet everyone's needs without alienating particular groups can be challenging.</a:t>
            </a:r>
          </a:p>
          <a:p>
            <a:pPr marL="342900" indent="-342900" algn="just">
              <a:buAutoNum type="arabicPeriod"/>
            </a:pPr>
            <a:r>
              <a:rPr lang="en-US" sz="2100" b="1" i="0" u="sng" dirty="0">
                <a:solidFill>
                  <a:srgbClr val="000000"/>
                </a:solidFill>
                <a:effectLst/>
                <a:latin typeface="Cambria" panose="02040503050406030204" pitchFamily="18" charset="0"/>
                <a:ea typeface="Cambria" panose="02040503050406030204" pitchFamily="18" charset="0"/>
              </a:rPr>
              <a:t>  Workplace and Institutional Barriers:- </a:t>
            </a:r>
            <a:r>
              <a:rPr lang="en-US" b="1" i="1" dirty="0">
                <a:solidFill>
                  <a:srgbClr val="000000"/>
                </a:solidFill>
                <a:effectLst/>
                <a:latin typeface="Cambria" panose="02040503050406030204" pitchFamily="18" charset="0"/>
                <a:ea typeface="Cambria" panose="02040503050406030204" pitchFamily="18" charset="0"/>
              </a:rPr>
              <a:t>Resistance in Workplaces: </a:t>
            </a:r>
            <a:r>
              <a:rPr lang="en-US" b="0" i="0" dirty="0">
                <a:solidFill>
                  <a:srgbClr val="000000"/>
                </a:solidFill>
                <a:effectLst/>
                <a:latin typeface="Cambria" panose="02040503050406030204" pitchFamily="18" charset="0"/>
                <a:ea typeface="Cambria" panose="02040503050406030204" pitchFamily="18" charset="0"/>
              </a:rPr>
              <a:t>Gender-neutral policies like dress codes or inclusive parental leave can face pushback from employers who see them as disruptive or costly. </a:t>
            </a:r>
            <a:r>
              <a:rPr lang="en-US" b="1" i="1" dirty="0">
                <a:solidFill>
                  <a:srgbClr val="000000"/>
                </a:solidFill>
                <a:effectLst/>
                <a:latin typeface="Cambria" panose="02040503050406030204" pitchFamily="18" charset="0"/>
                <a:ea typeface="Cambria" panose="02040503050406030204" pitchFamily="18" charset="0"/>
              </a:rPr>
              <a:t>Lack of Awareness: </a:t>
            </a:r>
            <a:r>
              <a:rPr lang="en-US" b="0" i="0" dirty="0">
                <a:solidFill>
                  <a:srgbClr val="000000"/>
                </a:solidFill>
                <a:effectLst/>
                <a:latin typeface="Cambria" panose="02040503050406030204" pitchFamily="18" charset="0"/>
                <a:ea typeface="Cambria" panose="02040503050406030204" pitchFamily="18" charset="0"/>
              </a:rPr>
              <a:t>Many organizations fail to train employees adequately on using gender-neutral language and respecting diverse identities.</a:t>
            </a:r>
          </a:p>
          <a:p>
            <a:pPr marL="342900" indent="-342900" algn="just">
              <a:buAutoNum type="arabicPeriod"/>
            </a:pPr>
            <a:r>
              <a:rPr lang="en-US" b="1" i="0" u="sng" dirty="0">
                <a:solidFill>
                  <a:srgbClr val="000000"/>
                </a:solidFill>
                <a:effectLst/>
                <a:latin typeface="Cambria" panose="02040503050406030204" pitchFamily="18" charset="0"/>
                <a:ea typeface="Cambria" panose="02040503050406030204" pitchFamily="18" charset="0"/>
              </a:rPr>
              <a:t>Education System Challenges</a:t>
            </a:r>
            <a:r>
              <a:rPr lang="en-US" b="1" i="1" u="sng" dirty="0">
                <a:solidFill>
                  <a:srgbClr val="000000"/>
                </a:solidFill>
                <a:effectLst/>
                <a:latin typeface="Cambria" panose="02040503050406030204" pitchFamily="18" charset="0"/>
                <a:ea typeface="Cambria" panose="02040503050406030204" pitchFamily="18" charset="0"/>
              </a:rPr>
              <a:t>:- </a:t>
            </a:r>
            <a:r>
              <a:rPr lang="en-US" b="1" i="1" dirty="0">
                <a:solidFill>
                  <a:srgbClr val="000000"/>
                </a:solidFill>
                <a:effectLst/>
                <a:latin typeface="Cambria" panose="02040503050406030204" pitchFamily="18" charset="0"/>
                <a:ea typeface="Cambria" panose="02040503050406030204" pitchFamily="18" charset="0"/>
              </a:rPr>
              <a:t>Parental Concerns: </a:t>
            </a:r>
            <a:r>
              <a:rPr lang="en-US" b="0" i="0" dirty="0">
                <a:solidFill>
                  <a:srgbClr val="000000"/>
                </a:solidFill>
                <a:effectLst/>
                <a:latin typeface="Cambria" panose="02040503050406030204" pitchFamily="18" charset="0"/>
                <a:ea typeface="Cambria" panose="02040503050406030204" pitchFamily="18" charset="0"/>
              </a:rPr>
              <a:t>Gender-neutral practices in schools, such as uniforms or curricula, often face resistance from parents who view them as inappropriate or unnecessary</a:t>
            </a:r>
            <a:r>
              <a:rPr lang="en-US" b="1" i="1" dirty="0">
                <a:solidFill>
                  <a:srgbClr val="000000"/>
                </a:solidFill>
                <a:effectLst/>
                <a:latin typeface="Cambria" panose="02040503050406030204" pitchFamily="18" charset="0"/>
                <a:ea typeface="Cambria" panose="02040503050406030204" pitchFamily="18" charset="0"/>
              </a:rPr>
              <a:t>. Peer Bullying: </a:t>
            </a:r>
            <a:r>
              <a:rPr lang="en-US" b="0" i="0" dirty="0">
                <a:solidFill>
                  <a:srgbClr val="000000"/>
                </a:solidFill>
                <a:effectLst/>
                <a:latin typeface="Cambria" panose="02040503050406030204" pitchFamily="18" charset="0"/>
                <a:ea typeface="Cambria" panose="02040503050406030204" pitchFamily="18" charset="0"/>
              </a:rPr>
              <a:t>Students advocating for or using gender-neutral facilities may face discrimination</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49868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D5353-6C84-AC53-0298-6EE250CCD625}"/>
              </a:ext>
            </a:extLst>
          </p:cNvPr>
          <p:cNvSpPr>
            <a:spLocks noGrp="1"/>
          </p:cNvSpPr>
          <p:nvPr>
            <p:ph type="title"/>
          </p:nvPr>
        </p:nvSpPr>
        <p:spPr>
          <a:xfrm>
            <a:off x="721896" y="702645"/>
            <a:ext cx="6815320" cy="870123"/>
          </a:xfrm>
        </p:spPr>
        <p:txBody>
          <a:bodyPr>
            <a:noAutofit/>
          </a:bodyPr>
          <a:lstStyle/>
          <a:p>
            <a:r>
              <a:rPr lang="en-IN" b="1" u="sng" dirty="0">
                <a:latin typeface="Algerian" panose="04020705040A02060702" pitchFamily="82" charset="0"/>
              </a:rPr>
              <a:t>Articles supporting Gender Neutrality</a:t>
            </a:r>
          </a:p>
        </p:txBody>
      </p:sp>
      <p:pic>
        <p:nvPicPr>
          <p:cNvPr id="6" name="Picture Placeholder 5">
            <a:extLst>
              <a:ext uri="{FF2B5EF4-FFF2-40B4-BE49-F238E27FC236}">
                <a16:creationId xmlns:a16="http://schemas.microsoft.com/office/drawing/2014/main" id="{0890B84C-2200-5C9B-DC83-A0E8FEA82924}"/>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897" r="1897"/>
          <a:stretch>
            <a:fillRect/>
          </a:stretch>
        </p:blipFill>
        <p:spPr>
          <a:xfrm>
            <a:off x="7950452" y="702645"/>
            <a:ext cx="3416984" cy="5476774"/>
          </a:xfrm>
          <a:prstGeom prst="rect">
            <a:avLst/>
          </a:prstGeom>
          <a:ln>
            <a:noFill/>
          </a:ln>
          <a:effectLst>
            <a:outerShdw blurRad="292100" dist="139700" dir="2700000" algn="tl" rotWithShape="0">
              <a:srgbClr val="333333">
                <a:alpha val="65000"/>
              </a:srgbClr>
            </a:outerShdw>
          </a:effectLst>
        </p:spPr>
      </p:pic>
      <p:sp>
        <p:nvSpPr>
          <p:cNvPr id="4" name="Text Placeholder 3">
            <a:extLst>
              <a:ext uri="{FF2B5EF4-FFF2-40B4-BE49-F238E27FC236}">
                <a16:creationId xmlns:a16="http://schemas.microsoft.com/office/drawing/2014/main" id="{402A3536-9742-101F-4CD9-040734750199}"/>
              </a:ext>
            </a:extLst>
          </p:cNvPr>
          <p:cNvSpPr>
            <a:spLocks noGrp="1"/>
          </p:cNvSpPr>
          <p:nvPr>
            <p:ph type="body" sz="half" idx="2"/>
          </p:nvPr>
        </p:nvSpPr>
        <p:spPr>
          <a:xfrm>
            <a:off x="824564" y="1572769"/>
            <a:ext cx="6712652" cy="4582586"/>
          </a:xfrm>
        </p:spPr>
        <p:txBody>
          <a:bodyPr anchor="ctr"/>
          <a:lstStyle/>
          <a:p>
            <a:pPr marL="342900" indent="-342900" algn="l">
              <a:buClr>
                <a:schemeClr val="tx1"/>
              </a:buClr>
              <a:buFont typeface="+mj-lt"/>
              <a:buAutoNum type="arabicPeriod"/>
            </a:pPr>
            <a:r>
              <a:rPr lang="en-US" b="1" dirty="0">
                <a:solidFill>
                  <a:srgbClr val="333333"/>
                </a:solidFill>
                <a:effectLst/>
                <a:latin typeface="Cambria" panose="02040503050406030204" pitchFamily="18" charset="0"/>
                <a:ea typeface="Cambria" panose="02040503050406030204" pitchFamily="18" charset="0"/>
                <a:cs typeface="Mongolian Baiti" panose="03000500000000000000" pitchFamily="66" charset="0"/>
              </a:rPr>
              <a:t>Article 14 </a:t>
            </a:r>
            <a:r>
              <a:rPr lang="en-US" dirty="0">
                <a:solidFill>
                  <a:srgbClr val="333333"/>
                </a:solidFill>
                <a:effectLst/>
                <a:latin typeface="Open Sans" panose="020F0502020204030204" pitchFamily="34" charset="0"/>
              </a:rPr>
              <a:t>Equality before law for women.</a:t>
            </a:r>
          </a:p>
          <a:p>
            <a:pPr marL="342900" indent="-342900" algn="l">
              <a:buClr>
                <a:schemeClr val="tx1"/>
              </a:buClr>
              <a:buFont typeface="+mj-lt"/>
              <a:buAutoNum type="arabicPeriod"/>
            </a:pPr>
            <a:r>
              <a:rPr lang="en-US" b="1" dirty="0">
                <a:solidFill>
                  <a:srgbClr val="333333"/>
                </a:solidFill>
                <a:effectLst/>
                <a:latin typeface="Cambria" panose="02040503050406030204" pitchFamily="18" charset="0"/>
                <a:ea typeface="Cambria" panose="02040503050406030204" pitchFamily="18" charset="0"/>
              </a:rPr>
              <a:t>Article 15 </a:t>
            </a:r>
            <a:r>
              <a:rPr lang="en-US" dirty="0">
                <a:solidFill>
                  <a:srgbClr val="333333"/>
                </a:solidFill>
                <a:effectLst/>
                <a:latin typeface="Open Sans" panose="020B0606030504020204" pitchFamily="34" charset="0"/>
              </a:rPr>
              <a:t>Prohibition of discrimination on grounds of religion, race, caste, sex or place of birth.</a:t>
            </a:r>
          </a:p>
          <a:p>
            <a:pPr marL="342900" indent="-342900" algn="l">
              <a:buClr>
                <a:schemeClr val="tx1"/>
              </a:buClr>
              <a:buFont typeface="+mj-lt"/>
              <a:buAutoNum type="arabicPeriod"/>
            </a:pPr>
            <a:r>
              <a:rPr lang="en-US" b="1" dirty="0">
                <a:solidFill>
                  <a:srgbClr val="333333"/>
                </a:solidFill>
                <a:effectLst/>
                <a:latin typeface="Cambria" panose="02040503050406030204" pitchFamily="18" charset="0"/>
                <a:ea typeface="Cambria" panose="02040503050406030204" pitchFamily="18" charset="0"/>
              </a:rPr>
              <a:t>Article 16 </a:t>
            </a:r>
            <a:r>
              <a:rPr lang="en-US" dirty="0">
                <a:solidFill>
                  <a:srgbClr val="333333"/>
                </a:solidFill>
                <a:effectLst/>
                <a:latin typeface="Open Sans" panose="020B0606030504020204" pitchFamily="34" charset="0"/>
              </a:rPr>
              <a:t>Equality of opportunity in matters of public      employment.</a:t>
            </a:r>
          </a:p>
          <a:p>
            <a:pPr marL="342900" indent="-342900" algn="l">
              <a:buClr>
                <a:schemeClr val="tx1"/>
              </a:buClr>
              <a:buFont typeface="+mj-lt"/>
              <a:buAutoNum type="arabicPeriod"/>
            </a:pPr>
            <a:r>
              <a:rPr lang="en-US" b="1" dirty="0">
                <a:solidFill>
                  <a:srgbClr val="333333"/>
                </a:solidFill>
                <a:effectLst/>
                <a:latin typeface="Cambria" panose="02040503050406030204" pitchFamily="18" charset="0"/>
                <a:ea typeface="Cambria" panose="02040503050406030204" pitchFamily="18" charset="0"/>
              </a:rPr>
              <a:t>Article 39 </a:t>
            </a:r>
            <a:r>
              <a:rPr lang="en-US" dirty="0">
                <a:solidFill>
                  <a:srgbClr val="333333"/>
                </a:solidFill>
                <a:latin typeface="Open Sans" panose="020B0606030504020204" pitchFamily="34" charset="0"/>
              </a:rPr>
              <a:t>A</a:t>
            </a:r>
            <a:r>
              <a:rPr lang="en-US" dirty="0">
                <a:solidFill>
                  <a:srgbClr val="333333"/>
                </a:solidFill>
                <a:effectLst/>
                <a:latin typeface="Open Sans" panose="020B0606030504020204" pitchFamily="34" charset="0"/>
              </a:rPr>
              <a:t> Equal justice and free </a:t>
            </a:r>
            <a:r>
              <a:rPr lang="en-US">
                <a:solidFill>
                  <a:srgbClr val="333333"/>
                </a:solidFill>
                <a:effectLst/>
                <a:latin typeface="Open Sans" panose="020B0606030504020204" pitchFamily="34" charset="0"/>
              </a:rPr>
              <a:t>legal aid.</a:t>
            </a:r>
            <a:endParaRPr lang="en-US" dirty="0">
              <a:solidFill>
                <a:srgbClr val="333333"/>
              </a:solidFill>
              <a:effectLst/>
              <a:latin typeface="Open Sans" panose="020B0606030504020204" pitchFamily="34" charset="0"/>
            </a:endParaRPr>
          </a:p>
          <a:p>
            <a:pPr marL="342900" indent="-342900" algn="l">
              <a:buClr>
                <a:schemeClr val="tx1"/>
              </a:buClr>
              <a:buFont typeface="+mj-lt"/>
              <a:buAutoNum type="arabicPeriod"/>
            </a:pPr>
            <a:r>
              <a:rPr lang="en-US" b="1" dirty="0">
                <a:solidFill>
                  <a:srgbClr val="333333"/>
                </a:solidFill>
                <a:effectLst/>
                <a:latin typeface="Cambria" panose="02040503050406030204" pitchFamily="18" charset="0"/>
                <a:ea typeface="Cambria" panose="02040503050406030204" pitchFamily="18" charset="0"/>
              </a:rPr>
              <a:t>Article 42  </a:t>
            </a:r>
            <a:r>
              <a:rPr lang="en-US" dirty="0">
                <a:solidFill>
                  <a:srgbClr val="333333"/>
                </a:solidFill>
                <a:effectLst/>
                <a:latin typeface="Open Sans" panose="020B0606030504020204" pitchFamily="34" charset="0"/>
              </a:rPr>
              <a:t>Provision for just and humane conditions of work and maternity relief.</a:t>
            </a:r>
            <a:br>
              <a:rPr lang="en-US" dirty="0">
                <a:solidFill>
                  <a:srgbClr val="333333"/>
                </a:solidFill>
                <a:effectLst/>
                <a:latin typeface="Open Sans" panose="020B0606030504020204" pitchFamily="34" charset="0"/>
              </a:rPr>
            </a:br>
            <a:endParaRPr lang="en-US" dirty="0">
              <a:solidFill>
                <a:srgbClr val="333333"/>
              </a:solidFill>
              <a:latin typeface="Open Sans" panose="020B0606030504020204" pitchFamily="34" charset="0"/>
            </a:endParaRPr>
          </a:p>
          <a:p>
            <a:endParaRPr lang="en-IN" dirty="0"/>
          </a:p>
        </p:txBody>
      </p:sp>
    </p:spTree>
    <p:extLst>
      <p:ext uri="{BB962C8B-B14F-4D97-AF65-F5344CB8AC3E}">
        <p14:creationId xmlns:p14="http://schemas.microsoft.com/office/powerpoint/2010/main" val="348013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B7FE8-6F4F-9BDE-9725-4142FA6BEF32}"/>
              </a:ext>
            </a:extLst>
          </p:cNvPr>
          <p:cNvSpPr>
            <a:spLocks noGrp="1"/>
          </p:cNvSpPr>
          <p:nvPr>
            <p:ph type="title"/>
          </p:nvPr>
        </p:nvSpPr>
        <p:spPr>
          <a:xfrm>
            <a:off x="594361" y="795528"/>
            <a:ext cx="5961888" cy="886968"/>
          </a:xfrm>
        </p:spPr>
        <p:txBody>
          <a:bodyPr>
            <a:normAutofit fontScale="90000"/>
          </a:bodyPr>
          <a:lstStyle/>
          <a:p>
            <a:r>
              <a:rPr lang="en-IN" sz="2800" b="1" u="sng" dirty="0">
                <a:latin typeface="Algerian" panose="04020705040A02060702" pitchFamily="82" charset="0"/>
              </a:rPr>
              <a:t>Impacts of Gender Neutrality</a:t>
            </a:r>
            <a:br>
              <a:rPr lang="en-IN" sz="2800" b="1" u="sng" dirty="0">
                <a:latin typeface="Algerian" panose="04020705040A02060702" pitchFamily="82" charset="0"/>
              </a:rPr>
            </a:br>
            <a:endParaRPr lang="en-IN" dirty="0"/>
          </a:p>
        </p:txBody>
      </p:sp>
      <p:sp>
        <p:nvSpPr>
          <p:cNvPr id="4" name="Text Placeholder 3">
            <a:extLst>
              <a:ext uri="{FF2B5EF4-FFF2-40B4-BE49-F238E27FC236}">
                <a16:creationId xmlns:a16="http://schemas.microsoft.com/office/drawing/2014/main" id="{965D87AC-216E-E473-6256-03A56B7FA89D}"/>
              </a:ext>
            </a:extLst>
          </p:cNvPr>
          <p:cNvSpPr>
            <a:spLocks noGrp="1"/>
          </p:cNvSpPr>
          <p:nvPr>
            <p:ph type="body" sz="half" idx="2"/>
          </p:nvPr>
        </p:nvSpPr>
        <p:spPr>
          <a:xfrm>
            <a:off x="886969" y="1472184"/>
            <a:ext cx="5897879" cy="4389120"/>
          </a:xfrm>
        </p:spPr>
        <p:txBody>
          <a:bodyPr>
            <a:normAutofit/>
          </a:bodyPr>
          <a:lstStyle/>
          <a:p>
            <a:pPr marL="457200" indent="-457200" algn="l">
              <a:buClr>
                <a:schemeClr val="tx1"/>
              </a:buClr>
              <a:buFont typeface="+mj-lt"/>
              <a:buAutoNum type="arabicPeriod"/>
            </a:pPr>
            <a:r>
              <a:rPr lang="en-US" sz="2000" dirty="0">
                <a:latin typeface="Cambria" panose="02040503050406030204" pitchFamily="18" charset="0"/>
                <a:ea typeface="Cambria" panose="02040503050406030204" pitchFamily="18" charset="0"/>
              </a:rPr>
              <a:t> Creating a welcoming environment</a:t>
            </a:r>
          </a:p>
          <a:p>
            <a:pPr marL="457200" indent="-457200" algn="l">
              <a:buClr>
                <a:schemeClr val="tx1"/>
              </a:buClr>
              <a:buFont typeface="+mj-lt"/>
              <a:buAutoNum type="arabicPeriod"/>
            </a:pPr>
            <a:r>
              <a:rPr lang="en-US" sz="2000" dirty="0">
                <a:latin typeface="Cambria" panose="02040503050406030204" pitchFamily="18" charset="0"/>
                <a:ea typeface="Cambria" panose="02040503050406030204" pitchFamily="18" charset="0"/>
              </a:rPr>
              <a:t> Promoting inclusivity and diversity</a:t>
            </a:r>
          </a:p>
          <a:p>
            <a:pPr marL="457200" indent="-457200" algn="l">
              <a:buClr>
                <a:schemeClr val="tx1"/>
              </a:buClr>
              <a:buFont typeface="+mj-lt"/>
              <a:buAutoNum type="arabicPeriod"/>
            </a:pPr>
            <a:r>
              <a:rPr lang="en-US" sz="2000" dirty="0">
                <a:latin typeface="Cambria" panose="02040503050406030204" pitchFamily="18" charset="0"/>
                <a:ea typeface="Cambria" panose="02040503050406030204" pitchFamily="18" charset="0"/>
              </a:rPr>
              <a:t> Encouraging equality in the workplace</a:t>
            </a:r>
          </a:p>
          <a:p>
            <a:pPr marL="457200" indent="-457200" algn="l">
              <a:buClr>
                <a:schemeClr val="tx1"/>
              </a:buClr>
              <a:buFont typeface="+mj-lt"/>
              <a:buAutoNum type="arabicPeriod"/>
            </a:pPr>
            <a:r>
              <a:rPr lang="en-US" sz="2000" dirty="0">
                <a:latin typeface="Cambria" panose="02040503050406030204" pitchFamily="18" charset="0"/>
                <a:ea typeface="Cambria" panose="02040503050406030204" pitchFamily="18" charset="0"/>
              </a:rPr>
              <a:t> Creating a more welcoming environment in        education</a:t>
            </a:r>
          </a:p>
          <a:p>
            <a:pPr marL="457200" indent="-457200" algn="l">
              <a:buClr>
                <a:schemeClr val="tx1"/>
              </a:buClr>
              <a:buFont typeface="+mj-lt"/>
              <a:buAutoNum type="arabicPeriod"/>
            </a:pPr>
            <a:r>
              <a:rPr lang="en-US" sz="2000" dirty="0">
                <a:latin typeface="Cambria" panose="02040503050406030204" pitchFamily="18" charset="0"/>
                <a:ea typeface="Cambria" panose="02040503050406030204" pitchFamily="18" charset="0"/>
              </a:rPr>
              <a:t> Changing the legal system</a:t>
            </a:r>
          </a:p>
          <a:p>
            <a:pPr marL="457200" indent="-457200" algn="l">
              <a:buClr>
                <a:schemeClr val="tx1"/>
              </a:buClr>
              <a:buFont typeface="+mj-lt"/>
              <a:buAutoNum type="arabicPeriod"/>
            </a:pPr>
            <a:r>
              <a:rPr lang="en-US" sz="2000" dirty="0">
                <a:latin typeface="Cambria" panose="02040503050406030204" pitchFamily="18" charset="0"/>
                <a:ea typeface="Cambria" panose="02040503050406030204" pitchFamily="18" charset="0"/>
              </a:rPr>
              <a:t>Challenging traditional roles and expectations</a:t>
            </a:r>
            <a:endParaRPr lang="en-IN" sz="2000" dirty="0">
              <a:latin typeface="Cambria" panose="02040503050406030204" pitchFamily="18" charset="0"/>
              <a:ea typeface="Cambria" panose="02040503050406030204" pitchFamily="18" charset="0"/>
            </a:endParaRPr>
          </a:p>
        </p:txBody>
      </p:sp>
      <p:pic>
        <p:nvPicPr>
          <p:cNvPr id="10" name="Picture Placeholder 9">
            <a:extLst>
              <a:ext uri="{FF2B5EF4-FFF2-40B4-BE49-F238E27FC236}">
                <a16:creationId xmlns:a16="http://schemas.microsoft.com/office/drawing/2014/main" id="{4AF17C4E-C0F1-8275-CD54-8F80776BE350}"/>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70" t="193" b="356"/>
          <a:stretch/>
        </p:blipFill>
        <p:spPr>
          <a:xfrm>
            <a:off x="6976873" y="1069143"/>
            <a:ext cx="4328159" cy="4719713"/>
          </a:xfrm>
        </p:spPr>
      </p:pic>
    </p:spTree>
    <p:extLst>
      <p:ext uri="{BB962C8B-B14F-4D97-AF65-F5344CB8AC3E}">
        <p14:creationId xmlns:p14="http://schemas.microsoft.com/office/powerpoint/2010/main" val="2738364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A73BDC-7AAF-5A47-0877-9FEE05A21BE8}"/>
              </a:ext>
            </a:extLst>
          </p:cNvPr>
          <p:cNvSpPr txBox="1"/>
          <p:nvPr/>
        </p:nvSpPr>
        <p:spPr>
          <a:xfrm>
            <a:off x="676656" y="905256"/>
            <a:ext cx="10588752" cy="3046988"/>
          </a:xfrm>
          <a:prstGeom prst="rect">
            <a:avLst/>
          </a:prstGeom>
          <a:noFill/>
        </p:spPr>
        <p:txBody>
          <a:bodyPr wrap="square" rtlCol="0">
            <a:spAutoFit/>
          </a:bodyPr>
          <a:lstStyle/>
          <a:p>
            <a:pPr algn="ctr"/>
            <a:r>
              <a:rPr lang="en-IN" sz="4800" b="1" u="sng" dirty="0">
                <a:latin typeface="Algerian" panose="04020705040A02060702" pitchFamily="82" charset="0"/>
              </a:rPr>
              <a:t>Conclusion</a:t>
            </a:r>
          </a:p>
          <a:p>
            <a:pPr algn="ctr"/>
            <a:endParaRPr lang="en-IN" sz="4800" b="1" u="sng" dirty="0">
              <a:latin typeface="Algerian" panose="04020705040A02060702" pitchFamily="82" charset="0"/>
            </a:endParaRPr>
          </a:p>
          <a:p>
            <a:pPr algn="just"/>
            <a:r>
              <a:rPr lang="en-US" sz="2400" b="0" i="0" dirty="0">
                <a:solidFill>
                  <a:srgbClr val="000000"/>
                </a:solidFill>
                <a:effectLst/>
                <a:latin typeface="Cambria" panose="02040503050406030204" pitchFamily="18" charset="0"/>
                <a:ea typeface="Cambria" panose="02040503050406030204" pitchFamily="18" charset="0"/>
              </a:rPr>
              <a:t>Gender neutrality paves the way for a fairer and more compassionate world. While implementing such changes requires effort and awareness, the long-term benefits in promoting equality, reducing discrimination, and fostering mutual respect make it a transformative movement for modern society.</a:t>
            </a:r>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23006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8D9632-1206-4009-CE82-CB1EC9E6F8DA}"/>
              </a:ext>
            </a:extLst>
          </p:cNvPr>
          <p:cNvSpPr txBox="1"/>
          <p:nvPr/>
        </p:nvSpPr>
        <p:spPr>
          <a:xfrm>
            <a:off x="783336" y="1787652"/>
            <a:ext cx="10479024" cy="2800767"/>
          </a:xfrm>
          <a:prstGeom prst="rect">
            <a:avLst/>
          </a:prstGeom>
          <a:noFill/>
        </p:spPr>
        <p:txBody>
          <a:bodyPr wrap="square" rtlCol="0">
            <a:spAutoFit/>
          </a:bodyPr>
          <a:lstStyle/>
          <a:p>
            <a:pPr algn="ctr"/>
            <a:r>
              <a:rPr lang="en-IN" sz="8800" b="1" dirty="0">
                <a:latin typeface="Algerian" panose="04020705040A02060702" pitchFamily="82" charset="0"/>
              </a:rPr>
              <a:t>THANK </a:t>
            </a:r>
          </a:p>
          <a:p>
            <a:pPr algn="ctr"/>
            <a:r>
              <a:rPr lang="en-IN" sz="8800" b="1" dirty="0">
                <a:latin typeface="Algerian" panose="04020705040A02060702" pitchFamily="82" charset="0"/>
              </a:rPr>
              <a:t>YOU</a:t>
            </a:r>
          </a:p>
        </p:txBody>
      </p:sp>
    </p:spTree>
    <p:extLst>
      <p:ext uri="{BB962C8B-B14F-4D97-AF65-F5344CB8AC3E}">
        <p14:creationId xmlns:p14="http://schemas.microsoft.com/office/powerpoint/2010/main" val="75631995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TM02900743[[fn=Organic]]</Template>
  <TotalTime>515</TotalTime>
  <Words>812</Words>
  <Application>Microsoft Office PowerPoint</Application>
  <PresentationFormat>Widescreen</PresentationFormat>
  <Paragraphs>63</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Algerian</vt:lpstr>
      <vt:lpstr>Arial</vt:lpstr>
      <vt:lpstr>Calibri</vt:lpstr>
      <vt:lpstr>Cambria</vt:lpstr>
      <vt:lpstr>Garamond</vt:lpstr>
      <vt:lpstr>Open Sans</vt:lpstr>
      <vt:lpstr>Segoe UI Historic</vt:lpstr>
      <vt:lpstr>var(--font-family-segoe)</vt:lpstr>
      <vt:lpstr>Wingdings</vt:lpstr>
      <vt:lpstr>Organic</vt:lpstr>
      <vt:lpstr>GENDER </vt:lpstr>
      <vt:lpstr>PowerPoint Presentation</vt:lpstr>
      <vt:lpstr>PowerPoint Presentation</vt:lpstr>
      <vt:lpstr>PowerPoint Presentation</vt:lpstr>
      <vt:lpstr>Introduction to Gender Neutrality </vt:lpstr>
      <vt:lpstr>PowerPoint Presentation</vt:lpstr>
      <vt:lpstr>PowerPoint Presentation</vt:lpstr>
      <vt:lpstr>Challenges to Gender  Neutrality</vt:lpstr>
      <vt:lpstr>Articles supporting Gender Neutrality</vt:lpstr>
      <vt:lpstr>Impacts of Gender Neutrality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Tanima Sadhu</dc:creator>
  <cp:lastModifiedBy>Tanima Sadhu</cp:lastModifiedBy>
  <cp:revision>9</cp:revision>
  <dcterms:created xsi:type="dcterms:W3CDTF">2024-12-08T14:20:49Z</dcterms:created>
  <dcterms:modified xsi:type="dcterms:W3CDTF">2024-12-10T13:48:27Z</dcterms:modified>
</cp:coreProperties>
</file>